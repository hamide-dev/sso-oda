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7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AUTHENTIFICATION UNIFIÉE</a:t>
            </a:r>
            <a:endParaRPr sz="16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05840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SSO avec Keycloak</a:t>
            </a:r>
            <a:endParaRPr sz="48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96012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8BED4"/>
                </a:solidFill>
                <a:latin typeface="Bookman Old Style" panose="02050604050505020204" charset="0"/>
                <a:cs typeface="Bookman Old Style" panose="02050604050505020204" charset="0"/>
              </a:rPr>
              <a:t>Comment connecter plusieurs applications à une identité unique</a:t>
            </a:r>
            <a:endParaRPr sz="1800" b="0" i="0">
              <a:solidFill>
                <a:srgbClr val="B8BED4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628650" y="312420"/>
            <a:ext cx="377190" cy="377190"/>
          </a:xfrm>
          <a:prstGeom prst="ellipse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18" name="Ellipse 17"/>
          <p:cNvSpPr/>
          <p:nvPr/>
        </p:nvSpPr>
        <p:spPr>
          <a:xfrm>
            <a:off x="1005840" y="185420"/>
            <a:ext cx="377190" cy="377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0" name="Ellipse 19"/>
          <p:cNvSpPr/>
          <p:nvPr/>
        </p:nvSpPr>
        <p:spPr>
          <a:xfrm>
            <a:off x="11207750" y="6268720"/>
            <a:ext cx="377190" cy="377190"/>
          </a:xfrm>
          <a:prstGeom prst="ellipse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1" name="Ellipse 20"/>
          <p:cNvSpPr/>
          <p:nvPr/>
        </p:nvSpPr>
        <p:spPr>
          <a:xfrm>
            <a:off x="11584940" y="6141720"/>
            <a:ext cx="377190" cy="377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2" name="Ellipse 21"/>
          <p:cNvSpPr/>
          <p:nvPr/>
        </p:nvSpPr>
        <p:spPr>
          <a:xfrm>
            <a:off x="8261350" y="2003425"/>
            <a:ext cx="377190" cy="377190"/>
          </a:xfrm>
          <a:prstGeom prst="ellipse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3" name="Ellipse 22"/>
          <p:cNvSpPr/>
          <p:nvPr/>
        </p:nvSpPr>
        <p:spPr>
          <a:xfrm>
            <a:off x="628650" y="3935730"/>
            <a:ext cx="377190" cy="377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4" name="Ellipse 23"/>
          <p:cNvSpPr/>
          <p:nvPr/>
        </p:nvSpPr>
        <p:spPr>
          <a:xfrm>
            <a:off x="378460" y="6395720"/>
            <a:ext cx="377190" cy="377190"/>
          </a:xfrm>
          <a:prstGeom prst="ellipse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5" name="Ellipse 24"/>
          <p:cNvSpPr/>
          <p:nvPr/>
        </p:nvSpPr>
        <p:spPr>
          <a:xfrm>
            <a:off x="755650" y="6268720"/>
            <a:ext cx="377190" cy="377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6" name="Ellipse 25"/>
          <p:cNvSpPr/>
          <p:nvPr/>
        </p:nvSpPr>
        <p:spPr>
          <a:xfrm>
            <a:off x="539750" y="1773555"/>
            <a:ext cx="377190" cy="377190"/>
          </a:xfrm>
          <a:prstGeom prst="ellipse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  <p:sp>
        <p:nvSpPr>
          <p:cNvPr id="27" name="Ellipse 26"/>
          <p:cNvSpPr/>
          <p:nvPr/>
        </p:nvSpPr>
        <p:spPr>
          <a:xfrm>
            <a:off x="8359140" y="4165600"/>
            <a:ext cx="377190" cy="3771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fr-F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320040"/>
            <a:ext cx="73152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SOMMAIRE</a:t>
            </a:r>
            <a:endParaRPr sz="28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432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Plan de la présentation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1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1847088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Qu'est-ce que le SSO ?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359152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2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problème sans SSO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889504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3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907792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Qu'est-ce que Keycloak ?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419856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4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3438144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Concepts clés : Realm, Client, User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950208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5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968496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flux d'authentification (Authorization Code + PKCE)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6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4498848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vrai mécanisme du SSO (le cookie de session)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5010912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7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0160" y="5052632"/>
            <a:ext cx="960120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Architecture  du projet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541264"/>
            <a:ext cx="457200" cy="384048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8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5559552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Sécurité &amp; points clés à retenir</a:t>
            </a:r>
            <a:endParaRPr sz="160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2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1 · DÉFINITION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Qu'est-ce que le SSO ?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6675120" cy="252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Single Sign-On : l'utilisateur s'authentifie </a:t>
            </a:r>
            <a:r>
              <a:rPr lang="fr-FR"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qu’une</a:t>
            </a: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 seule fois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Il accède ensuite à plusieurs applications sans se reconnecter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L'authentification est déléguée à un fournisseur d'identité central (Identity Provider)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0" y="1920240"/>
            <a:ext cx="3749039" cy="3291840"/>
          </a:xfrm>
          <a:prstGeom prst="roundRect">
            <a:avLst>
              <a:gd name="adj" fmla="val 12000"/>
            </a:avLst>
          </a:prstGeom>
          <a:solidFill>
            <a:schemeClr val="bg2">
              <a:alpha val="38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 sz="1300" b="1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Exemple du quotidien</a:t>
            </a:r>
            <a:endParaRPr sz="13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0" y="25603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Connexion à un compte Google</a:t>
            </a:r>
            <a:endParaRPr sz="13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274320" indent="0">
              <a:lnSpc>
                <a:spcPct val="112000"/>
              </a:lnSpc>
              <a:spcAft>
                <a:spcPts val="1000"/>
              </a:spcAft>
            </a:pPr>
            <a:r>
              <a:rPr sz="110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–  Gmail</a:t>
            </a:r>
            <a:endParaRPr sz="110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274320" indent="0">
              <a:lnSpc>
                <a:spcPct val="112000"/>
              </a:lnSpc>
              <a:spcAft>
                <a:spcPts val="1000"/>
              </a:spcAft>
            </a:pPr>
            <a:r>
              <a:rPr sz="110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–  Drive</a:t>
            </a:r>
            <a:endParaRPr sz="110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274320" indent="0">
              <a:lnSpc>
                <a:spcPct val="112000"/>
              </a:lnSpc>
              <a:spcAft>
                <a:spcPts val="1000"/>
              </a:spcAft>
            </a:pPr>
            <a:r>
              <a:rPr sz="110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–  YouTube</a:t>
            </a:r>
            <a:endParaRPr sz="110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→ accessibles sans re-taper le mot de passe</a:t>
            </a:r>
            <a:endParaRPr sz="13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SSO &amp; Keycloak — Projet ODA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3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5670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2 · CONTEXTE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problème sans SSO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10515600" cy="2460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‣une session différente par application</a:t>
            </a:r>
            <a:r>
              <a:rPr lang="fr-FR"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 </a:t>
            </a:r>
            <a:endParaRPr sz="18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L'utilisateur se reconnecte à chaque </a:t>
            </a:r>
            <a:r>
              <a:rPr lang="fr-FR"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changements d’</a:t>
            </a: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application</a:t>
            </a:r>
            <a:endParaRPr sz="18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Chaque backend doit stocker</a:t>
            </a:r>
            <a:r>
              <a:rPr lang="fr-FR"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 en base de donnees</a:t>
            </a: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 et vérifier lui-même les mots de passe </a:t>
            </a:r>
            <a:endParaRPr sz="18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La logique d'authentification est dupliquée dans chaque projet</a:t>
            </a:r>
            <a:endParaRPr sz="18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Aucune vue centralisée des utilisateurs, des rôles ou des accès</a:t>
            </a:r>
            <a:endParaRPr sz="18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 panose="020F0502020204030204"/>
              </a:rPr>
              <a:t>SSO &amp; Keycloak — Projet ODA</a:t>
            </a:r>
            <a:endParaRPr sz="1000" b="0" i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 panose="020F0502020204030204"/>
              </a:rPr>
              <a:t>4</a:t>
            </a:r>
            <a:endParaRPr sz="1000" b="0" i="0">
              <a:solidFill>
                <a:srgbClr val="6B728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3 · L'OUTIL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Qu'est-ce que Keycloak ?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6675120" cy="281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Serveur open source de gestion d'identité (IAM), porté par Red Hat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Implémente les standards OAuth 2.0, OpenID Connect et SAML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Fournit à la fois : la page de login, la gestion des utilisateurs et l'émission des tokens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Devient le SEUL endroit où un mot de passe est saisi et vérifié</a:t>
            </a:r>
            <a:endParaRPr sz="17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0" y="1920240"/>
            <a:ext cx="3749039" cy="3291840"/>
          </a:xfrm>
          <a:prstGeom prst="roundRect">
            <a:avLst>
              <a:gd name="adj" fmla="val 12000"/>
            </a:avLst>
          </a:prstGeom>
          <a:solidFill>
            <a:srgbClr val="14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Dans le projet ODA</a:t>
            </a:r>
            <a:endParaRPr sz="13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0" y="25603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E5E7F0"/>
                </a:solidFill>
                <a:latin typeface="Bookman Old Style" panose="02050604050505020204" charset="0"/>
                <a:cs typeface="Bookman Old Style" panose="02050604050505020204" charset="0"/>
              </a:rPr>
              <a:t>‣  Docker, image keycloak:25.0</a:t>
            </a:r>
            <a:endParaRPr sz="1300">
              <a:solidFill>
                <a:srgbClr val="E5E7F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E5E7F0"/>
                </a:solidFill>
                <a:latin typeface="Bookman Old Style" panose="02050604050505020204" charset="0"/>
                <a:cs typeface="Bookman Old Style" panose="02050604050505020204" charset="0"/>
              </a:rPr>
              <a:t>‣  Accessible sur localhost:8080</a:t>
            </a:r>
            <a:endParaRPr sz="1300">
              <a:solidFill>
                <a:srgbClr val="E5E7F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300">
                <a:solidFill>
                  <a:srgbClr val="E5E7F0"/>
                </a:solidFill>
                <a:latin typeface="Bookman Old Style" panose="02050604050505020204" charset="0"/>
                <a:cs typeface="Bookman Old Style" panose="02050604050505020204" charset="0"/>
              </a:rPr>
              <a:t>‣  Realm dédié : "ODA"</a:t>
            </a:r>
            <a:endParaRPr sz="1300">
              <a:solidFill>
                <a:srgbClr val="E5E7F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5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4 · CONCEPTS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Realm, Client, User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2024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Bookman Old Style" panose="02050604050505020204" charset="0"/>
                <a:cs typeface="Bookman Old Style" panose="02050604050505020204" charset="0"/>
              </a:rPr>
              <a:t>REALM</a:t>
            </a:r>
            <a:endParaRPr sz="1600" b="1">
              <a:solidFill>
                <a:schemeClr val="bg1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Espace isolé d'utilisateurs et de règles.
</a:t>
            </a:r>
            <a:endParaRPr sz="13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CLIENT</a:t>
            </a:r>
            <a:endParaRPr sz="16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0" y="260604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Une application déclarée dans le realm.
</a:t>
            </a:r>
            <a:endParaRPr sz="13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1920240"/>
            <a:ext cx="3383280" cy="54864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USER</a:t>
            </a:r>
            <a:endParaRPr sz="16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321040" y="260604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Un compte utilisateur, rattaché au realm,
partagé entre tous les clients</a:t>
            </a:r>
            <a:endParaRPr sz="130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Un realm peut contenir plusieurs clients → c'est la base technique du SSO multi-applications.</a:t>
            </a:r>
            <a:endParaRPr sz="1500" b="0" i="1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6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5 · FLUX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Authorization Code + PKCE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0345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Frontend (SPA)</a:t>
            </a:r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09920" y="20345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Keycloak</a:t>
            </a:r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61120" y="2103120"/>
            <a:ext cx="2286000" cy="82296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Backend API</a:t>
            </a:r>
            <a:endParaRPr sz="1300" b="1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9" name="Connector 8"/>
          <p:cNvCxnSpPr/>
          <p:nvPr/>
        </p:nvCxnSpPr>
        <p:spPr>
          <a:xfrm flipV="1">
            <a:off x="3017520" y="2285873"/>
            <a:ext cx="2621280" cy="18415"/>
          </a:xfrm>
          <a:prstGeom prst="line">
            <a:avLst/>
          </a:prstGeom>
          <a:ln w="22225">
            <a:solidFill>
              <a:srgbClr val="33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29940" y="1862836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1. redirect login</a:t>
            </a:r>
            <a:endParaRPr sz="105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17520" y="2667000"/>
            <a:ext cx="2697480" cy="30480"/>
          </a:xfrm>
          <a:prstGeom prst="line">
            <a:avLst/>
          </a:prstGeom>
          <a:ln w="22225">
            <a:solidFill>
              <a:srgbClr val="33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94710" y="292595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2. code (si login OK)</a:t>
            </a:r>
            <a:endParaRPr sz="1050" b="0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874520" y="2926080"/>
            <a:ext cx="0" cy="50292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2921508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3. échange code → token</a:t>
            </a:r>
            <a:endParaRPr sz="105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3429000"/>
            <a:ext cx="70866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37860" y="3172968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563EB"/>
                </a:solidFill>
                <a:latin typeface="Bookman Old Style" panose="02050604050505020204" charset="0"/>
                <a:cs typeface="Bookman Old Style" panose="02050604050505020204" charset="0"/>
              </a:rPr>
              <a:t>4. requête + Bearer token</a:t>
            </a:r>
            <a:endParaRPr sz="1050" b="0" i="0">
              <a:solidFill>
                <a:srgbClr val="2563EB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1. Le frontend redirige le navigateur vers Keycloak (jamais d'appel API direct)</a:t>
            </a:r>
            <a:endParaRPr sz="14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2. L'utilisateur se connecte (ou pas, si déjà connecté) — Keycloak renvoie un code</a:t>
            </a:r>
            <a:endParaRPr sz="14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3. La librairie du frontend échange ce code contre un access_token (JWT), sécurisé par PKCE</a:t>
            </a:r>
            <a:endParaRPr sz="14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4. Le frontend appelle le backend avec Authorization: Bearer &lt;token&gt;</a:t>
            </a:r>
            <a:endParaRPr sz="14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7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6 · MÉCANISME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vrai mécanisme du SSO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200"/>
              </a:spcAft>
            </a:pPr>
            <a:r>
              <a:rPr sz="16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Au premier login, Keycloak pose un cookie de session sur SON PROPRE domaine (pas celui du frontend)</a:t>
            </a:r>
            <a:endParaRPr sz="16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200"/>
              </a:spcAft>
            </a:pPr>
            <a:r>
              <a:rPr sz="16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Quand une deuxième application redirige aussi vers Keycloak, ce cookie est déjà là</a:t>
            </a:r>
            <a:endParaRPr sz="16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200"/>
              </a:spcAft>
            </a:pPr>
            <a:r>
              <a:rPr sz="16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Keycloak reconnaît la session active → saute le formulaire de login → renvoie directement un code</a:t>
            </a:r>
            <a:endParaRPr sz="16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200"/>
              </a:spcAft>
            </a:pPr>
            <a:r>
              <a:rPr sz="16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Ce n'est pas le frontend qui "partage" la connexion : c'est Keycloak qui reconnaît l'utilisateur</a:t>
            </a:r>
            <a:endParaRPr sz="16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80160" y="4572000"/>
            <a:ext cx="9601200" cy="155448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 sz="1300" b="1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Conséquence concrète</a:t>
            </a:r>
            <a:endParaRPr sz="13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507492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chemeClr val="bg1"/>
                </a:solidFill>
                <a:latin typeface="Bookman Old Style" panose="02050604050505020204" charset="0"/>
                <a:cs typeface="Bookman Old Style" panose="02050604050505020204" charset="0"/>
              </a:rPr>
              <a:t>Se connecter sur le frontend 1, puis ouvrir/actualiser le frontend 2 → connexion automatique,
sans ressaisir aucun mot de passe.</a:t>
            </a:r>
            <a:endParaRPr sz="1450" b="0" i="0">
              <a:solidFill>
                <a:schemeClr val="bg1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8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7 · ARCHITECTURE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Le projet ODA en pratique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09160" y="178308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Keycloak
realm "ODA"
:8080</a:t>
            </a:r>
            <a:endParaRPr sz="14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Frontend 1 (React)
client: client1 — :3000</a:t>
            </a:r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60520" y="4023360"/>
            <a:ext cx="3108960" cy="118872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Frontend 2 (React)
client: client2 — :3001</a:t>
            </a:r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0" y="4023360"/>
            <a:ext cx="3108960" cy="1188720"/>
          </a:xfrm>
          <a:prstGeom prst="roundRect">
            <a:avLst>
              <a:gd name="adj" fmla="val 12000"/>
            </a:avLst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Backend NestJS
valide les JWT — :4000</a:t>
            </a:r>
            <a:endParaRPr sz="1300" b="1">
              <a:solidFill>
                <a:srgbClr val="FFFFF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2194560" y="3154680"/>
            <a:ext cx="2880360" cy="8686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715000" y="3154680"/>
            <a:ext cx="365760" cy="8686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49040" y="4480560"/>
            <a:ext cx="4480560" cy="13716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56860" y="407784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563EB"/>
                </a:solidFill>
                <a:latin typeface="Bookman Old Style" panose="02050604050505020204" charset="0"/>
                <a:cs typeface="Bookman Old Style" panose="02050604050505020204" charset="0"/>
              </a:rPr>
              <a:t>JWT Bearer</a:t>
            </a:r>
            <a:endParaRPr sz="1050" b="0" i="0">
              <a:solidFill>
                <a:srgbClr val="2563EB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269480" y="4754880"/>
            <a:ext cx="96012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26580" y="4654423"/>
            <a:ext cx="1645920" cy="365760"/>
          </a:xfrm>
          <a:prstGeom prst="rect">
            <a:avLst/>
          </a:prstGeom>
          <a:solidFill>
            <a:srgbClr val="FFFFFF"/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563EB"/>
                </a:solidFill>
                <a:latin typeface="Bookman Old Style" panose="02050604050505020204" charset="0"/>
                <a:cs typeface="Bookman Old Style" panose="02050604050505020204" charset="0"/>
              </a:rPr>
              <a:t>JWT Bearer</a:t>
            </a:r>
            <a:endParaRPr sz="1050" b="0" i="0">
              <a:solidFill>
                <a:srgbClr val="2563EB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1 realm · 2 clients (1 par frontend) · 1 backend partagé qui valide indifféremment les tokens des deux</a:t>
            </a:r>
            <a:endParaRPr sz="1350" b="0" i="1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9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6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670F"/>
                </a:solidFill>
                <a:latin typeface="Bookman Old Style" panose="02050604050505020204" charset="0"/>
                <a:cs typeface="Bookman Old Style" panose="02050604050505020204" charset="0"/>
              </a:rPr>
              <a:t>8 · À RETENIR</a:t>
            </a:r>
            <a:endParaRPr sz="1400" b="1" i="0">
              <a:solidFill>
                <a:srgbClr val="F5670F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Sécurité &amp; points clés</a:t>
            </a:r>
            <a:endParaRPr sz="3000" b="1" i="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7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PKCE protège les clients publics (SPA) : pas de secret à cacher dans le code JS</a:t>
            </a:r>
            <a:endParaRPr sz="17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7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redirectUris = liste blanche stricte → protection contre le détournement de redirection</a:t>
            </a:r>
            <a:endParaRPr sz="17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7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Le backend vérifie signature + issuer + expiration localement, sans appeler Keycloak à chaque requête</a:t>
            </a:r>
            <a:endParaRPr sz="17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7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signoutRedirect() ferme la session SSO côté Keycloak ; removeUser() ne fait que du local</a:t>
            </a:r>
            <a:endParaRPr sz="17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marL="0" indent="0">
              <a:lnSpc>
                <a:spcPct val="112000"/>
              </a:lnSpc>
              <a:spcAft>
                <a:spcPts val="1600"/>
              </a:spcAft>
            </a:pPr>
            <a:r>
              <a:rPr sz="1750">
                <a:solidFill>
                  <a:srgbClr val="333A4A"/>
                </a:solidFill>
                <a:latin typeface="Bookman Old Style" panose="02050604050505020204" charset="0"/>
                <a:cs typeface="Bookman Old Style" panose="02050604050505020204" charset="0"/>
              </a:rPr>
              <a:t>‣  Un seul realm partagé = fondation de tout le SSO multi-applications</a:t>
            </a:r>
            <a:endParaRPr sz="1750">
              <a:solidFill>
                <a:srgbClr val="333A4A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Bookman Old Style" panose="02050604050505020204" charset="0"/>
                <a:cs typeface="Bookman Old Style" panose="02050604050505020204" charset="0"/>
              </a:rPr>
              <a:t>10</a:t>
            </a:r>
            <a:endParaRPr sz="1000" b="0" i="0">
              <a:solidFill>
                <a:srgbClr val="6B7280"/>
              </a:solidFill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3755</Words>
  <Application>WPS Presentation</Application>
  <PresentationFormat>On-screen Show (4:3)</PresentationFormat>
  <Paragraphs>188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Bookman Old Style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ayila</cp:lastModifiedBy>
  <cp:revision>3</cp:revision>
  <dcterms:created xsi:type="dcterms:W3CDTF">2013-01-27T09:14:00Z</dcterms:created>
  <dcterms:modified xsi:type="dcterms:W3CDTF">2026-08-18T05:12:10Z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1036-12.1.0.28032</vt:lpwstr>
  </property>
  <property fmtid="{D5CDD505-2E9C-101B-9397-08002B2CF9AE}" pid="3" name="ICV">
    <vt:lpwstr>19D6AFAB356E4E0AAD8E345532FD0CF5_12</vt:lpwstr>
  </property>
</Properties>
</file>